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  <Relationship Id="rId4" Type="http://schemas.openxmlformats.org/officeDocument/2006/relationships/tableStyles" Target="tableStyles.xml"/>
  <Relationship Id="rId5" Type="http://schemas.openxmlformats.org/officeDocument/2006/relationships/viewProps" Target="viewProps.xml"/>
  <Relationship Id="rId6" Type="http://schemas.openxmlformats.org/officeDocument/2006/relationships/presProps" Target="presProp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2476500" y="1143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3600" b="1">
                <a:solidFill>
                  <a:srgbClr val="111827"/>
                </a:solidFill>
                <a:latin typeface="Aptos"/>
                <a:ea typeface="Microsoft YaHei"/>
              </a:rPr>
              <a:t>UI Test Automation Architecture</a:t>
            </a:r>
            <a:endParaRPr lang="en-US" sz="3600"/>
          </a:p>
        </p:txBody>
      </p:sp>
      <p:sp>
        <p:nvSpPr>
          <p:cNvPr id="4" name="subtitle"/>
          <p:cNvSpPr/>
          <p:nvPr/>
        </p:nvSpPr>
        <p:spPr>
          <a:xfrm>
            <a:off x="2857500" y="514350"/>
            <a:ext cx="64770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600">
                <a:solidFill>
                  <a:srgbClr val="334155"/>
                </a:solidFill>
                <a:latin typeface="Aptos"/>
                <a:ea typeface="Microsoft YaHei"/>
              </a:rPr>
              <a:t>Cucumber JS (Front-end)  →  Backend (FlaUI Wrapper API)  →  Windows Application</a:t>
            </a:r>
            <a:endParaRPr lang="en-US" sz="1600"/>
          </a:p>
        </p:txBody>
      </p:sp>
      <p:sp>
        <p:nvSpPr>
          <p:cNvPr id="5" name="Front-end (Test Runner) panel"/>
          <p:cNvSpPr/>
          <p:nvPr/>
        </p:nvSpPr>
        <p:spPr>
          <a:xfrm>
            <a:off x="266700" y="800100"/>
            <a:ext cx="3476625" cy="4143375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C7F4A"/>
            </a:solidFill>
          </a:ln>
        </p:spPr>
        <p:txBody>
          <a:bodyPr/>
          <a:lstStyle/>
          <a:p/>
        </p:txBody>
      </p:sp>
      <p:sp>
        <p:nvSpPr>
          <p:cNvPr id="6" name="Front-end (Test Runner) title"/>
          <p:cNvSpPr/>
          <p:nvPr/>
        </p:nvSpPr>
        <p:spPr>
          <a:xfrm>
            <a:off x="381000" y="876300"/>
            <a:ext cx="3248025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500" b="1">
                <a:solidFill>
                  <a:srgbClr val="0F172A"/>
                </a:solidFill>
                <a:latin typeface="Aptos"/>
                <a:ea typeface="Microsoft YaHei"/>
              </a:rPr>
              <a:t>Front-end (Test Runner)</a:t>
            </a:r>
            <a:endParaRPr lang="en-US" sz="1500"/>
          </a:p>
          <a:p>
            <a:pPr algn="ctr"/>
            <a:r>
              <a:rPr lang="en-US" sz="1500" b="1">
                <a:solidFill>
                  <a:srgbClr val="0F172A"/>
                </a:solidFill>
                <a:latin typeface="Aptos"/>
                <a:ea typeface="Microsoft YaHei"/>
              </a:rPr>
              <a:t>Cucumber JS</a:t>
            </a:r>
            <a:endParaRPr lang="en-US" sz="1500"/>
          </a:p>
        </p:txBody>
      </p:sp>
      <p:sp>
        <p:nvSpPr>
          <p:cNvPr id="7" name="Backend Service panel"/>
          <p:cNvSpPr/>
          <p:nvPr/>
        </p:nvSpPr>
        <p:spPr>
          <a:xfrm>
            <a:off x="4762500" y="800100"/>
            <a:ext cx="3524250" cy="4143375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B6FA3"/>
            </a:solidFill>
          </a:ln>
        </p:spPr>
        <p:txBody>
          <a:bodyPr/>
          <a:lstStyle/>
          <a:p/>
        </p:txBody>
      </p:sp>
      <p:sp>
        <p:nvSpPr>
          <p:cNvPr id="8" name="Backend Service title"/>
          <p:cNvSpPr/>
          <p:nvPr/>
        </p:nvSpPr>
        <p:spPr>
          <a:xfrm>
            <a:off x="4876800" y="876300"/>
            <a:ext cx="32956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500" b="1">
                <a:solidFill>
                  <a:srgbClr val="0F172A"/>
                </a:solidFill>
                <a:latin typeface="Aptos"/>
                <a:ea typeface="Microsoft YaHei"/>
              </a:rPr>
              <a:t>Backend Service</a:t>
            </a:r>
            <a:endParaRPr lang="en-US" sz="1500"/>
          </a:p>
          <a:p>
            <a:pPr algn="ctr"/>
            <a:r>
              <a:rPr lang="en-US" sz="1500" b="1">
                <a:solidFill>
                  <a:srgbClr val="0F172A"/>
                </a:solidFill>
                <a:latin typeface="Aptos"/>
                <a:ea typeface="Microsoft YaHei"/>
              </a:rPr>
              <a:t>(FlaUI Wrapper API)</a:t>
            </a:r>
            <a:endParaRPr lang="en-US" sz="1500"/>
          </a:p>
        </p:txBody>
      </p:sp>
      <p:sp>
        <p:nvSpPr>
          <p:cNvPr id="9" name="System Under Test (SUT) panel"/>
          <p:cNvSpPr/>
          <p:nvPr/>
        </p:nvSpPr>
        <p:spPr>
          <a:xfrm>
            <a:off x="9296400" y="800100"/>
            <a:ext cx="2362200" cy="314325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AA8A18"/>
            </a:solidFill>
          </a:ln>
        </p:spPr>
        <p:txBody>
          <a:bodyPr/>
          <a:lstStyle/>
          <a:p/>
        </p:txBody>
      </p:sp>
      <p:sp>
        <p:nvSpPr>
          <p:cNvPr id="10" name="System Under Test (SUT) title"/>
          <p:cNvSpPr/>
          <p:nvPr/>
        </p:nvSpPr>
        <p:spPr>
          <a:xfrm>
            <a:off x="9410700" y="876300"/>
            <a:ext cx="21336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500" b="1">
                <a:solidFill>
                  <a:srgbClr val="0F172A"/>
                </a:solidFill>
                <a:latin typeface="Aptos"/>
                <a:ea typeface="Microsoft YaHei"/>
              </a:rPr>
              <a:t>System Under Test (SUT)</a:t>
            </a:r>
            <a:endParaRPr lang="en-US" sz="1500"/>
          </a:p>
          <a:p>
            <a:pPr algn="ctr"/>
            <a:r>
              <a:rPr lang="en-US" sz="1500" b="1">
                <a:solidFill>
                  <a:srgbClr val="0F172A"/>
                </a:solidFill>
                <a:latin typeface="Aptos"/>
                <a:ea typeface="Microsoft YaHei"/>
              </a:rPr>
              <a:t>Windows Environment</a:t>
            </a:r>
            <a:endParaRPr lang="en-US" sz="1500"/>
          </a:p>
        </p:txBody>
      </p:sp>
      <p:sp>
        <p:nvSpPr>
          <p:cNvPr id="11" name="cucumber feature"/>
          <p:cNvSpPr/>
          <p:nvPr/>
        </p:nvSpPr>
        <p:spPr>
          <a:xfrm>
            <a:off x="419100" y="1428750"/>
            <a:ext cx="1447800" cy="1143000"/>
          </a:xfrm>
          <a:prstGeom prst="roundRect">
            <a:avLst/>
          </a:prstGeom>
          <a:solidFill>
            <a:srgbClr val="F7FFF7"/>
          </a:solidFill>
          <a:ln w="9525">
            <a:solidFill>
              <a:srgbClr val="4C7F4A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cucumber</a:t>
            </a:r>
            <a:endParaRPr lang="en-US" sz="1300"/>
          </a:p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300"/>
          </a:p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Feature Files</a:t>
            </a:r>
            <a:endParaRPr lang="en-US" sz="1300"/>
          </a:p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(.feature)</a:t>
            </a:r>
            <a:endParaRPr lang="en-US" sz="1300"/>
          </a:p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300"/>
          </a:p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Gherkin Scenarios</a:t>
            </a:r>
            <a:endParaRPr lang="en-US" sz="1300"/>
          </a:p>
        </p:txBody>
      </p:sp>
      <p:sp>
        <p:nvSpPr>
          <p:cNvPr id="12" name="step definitions"/>
          <p:cNvSpPr/>
          <p:nvPr/>
        </p:nvSpPr>
        <p:spPr>
          <a:xfrm>
            <a:off x="419100" y="3181350"/>
            <a:ext cx="1447800" cy="1066800"/>
          </a:xfrm>
          <a:prstGeom prst="roundRect">
            <a:avLst/>
          </a:prstGeom>
          <a:solidFill>
            <a:srgbClr val="F7FFF7"/>
          </a:solidFill>
          <a:ln w="9525">
            <a:solidFill>
              <a:srgbClr val="4C7F4A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JS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Step Definitions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(JavaScript)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Map Gherkin steps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to actions</a:t>
            </a:r>
            <a:endParaRPr lang="en-US" sz="1200"/>
          </a:p>
        </p:txBody>
      </p:sp>
      <p:sp>
        <p:nvSpPr>
          <p:cNvPr id="13" name="ui request"/>
          <p:cNvSpPr/>
          <p:nvPr/>
        </p:nvSpPr>
        <p:spPr>
          <a:xfrm>
            <a:off x="2381250" y="3000375"/>
            <a:ext cx="1143000" cy="1295400"/>
          </a:xfrm>
          <a:prstGeom prst="roundRect">
            <a:avLst/>
          </a:prstGeom>
          <a:solidFill>
            <a:srgbClr val="F9F5FF"/>
          </a:solidFill>
          <a:ln w="9525">
            <a:solidFill>
              <a:srgbClr val="7C5FB3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ui_request.js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HTTP Client Wrapper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build request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set headers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error handling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response parsing</a:t>
            </a:r>
            <a:endParaRPr lang="en-US" sz="1100"/>
          </a:p>
        </p:txBody>
      </p:sp>
      <p:sp>
        <p:nvSpPr>
          <p:cNvPr id="14" name="test reports"/>
          <p:cNvSpPr/>
          <p:nvPr/>
        </p:nvSpPr>
        <p:spPr>
          <a:xfrm>
            <a:off x="419100" y="4705350"/>
            <a:ext cx="1504950" cy="609600"/>
          </a:xfrm>
          <a:prstGeom prst="roundRect">
            <a:avLst/>
          </a:prstGeom>
          <a:solidFill>
            <a:srgbClr val="FFF9E6"/>
          </a:solidFill>
          <a:ln w="9525">
            <a:solidFill>
              <a:srgbClr val="C9A227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Test Reports / Logs</a:t>
            </a:r>
            <a:endParaRPr lang="en-US" sz="1300"/>
          </a:p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(Cucumber JSON)</a:t>
            </a:r>
            <a:endParaRPr lang="en-US" sz="1300"/>
          </a:p>
        </p:txBody>
      </p:sp>
      <p:sp>
        <p:nvSpPr>
          <p:cNvPr id="15" name="uses label"/>
          <p:cNvSpPr/>
          <p:nvPr/>
        </p:nvSpPr>
        <p:spPr>
          <a:xfrm>
            <a:off x="1085850" y="27432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334155"/>
                </a:solidFill>
                <a:latin typeface="Aptos"/>
                <a:ea typeface="Microsoft YaHei"/>
              </a:rPr>
              <a:t>uses</a:t>
            </a:r>
            <a:endParaRPr lang="en-US" sz="1100"/>
          </a:p>
        </p:txBody>
      </p:sp>
      <p:sp>
        <p:nvSpPr>
          <p:cNvPr id="16" name="calls label"/>
          <p:cNvSpPr/>
          <p:nvPr/>
        </p:nvSpPr>
        <p:spPr>
          <a:xfrm>
            <a:off x="1971675" y="35909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334155"/>
                </a:solidFill>
                <a:latin typeface="Aptos"/>
                <a:ea typeface="Microsoft YaHei"/>
              </a:rPr>
              <a:t>calls</a:t>
            </a:r>
            <a:endParaRPr lang="en-US" sz="1100"/>
          </a:p>
        </p:txBody>
      </p:sp>
      <p:sp>
        <p:nvSpPr>
          <p:cNvPr id="17" name="generates label"/>
          <p:cNvSpPr/>
          <p:nvPr/>
        </p:nvSpPr>
        <p:spPr>
          <a:xfrm>
            <a:off x="1085850" y="440055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334155"/>
                </a:solidFill>
                <a:latin typeface="Aptos"/>
                <a:ea typeface="Microsoft YaHei"/>
              </a:rPr>
              <a:t>generates</a:t>
            </a:r>
            <a:endParaRPr lang="en-US" sz="1100"/>
          </a:p>
        </p:txBody>
      </p:sp>
      <p:cxnSp>
        <p:nvCxnSpPr>
          <p:cNvPr id="18" name="feature to steps"/>
          <p:cNvCxnSpPr/>
          <p:nvPr/>
        </p:nvCxnSpPr>
        <p:spPr>
          <a:xfrm>
            <a:off x="1143000" y="2571750"/>
            <a:ext cx="9525" cy="609600"/>
          </a:xfrm>
          <a:prstGeom prst="line">
            <a:avLst/>
          </a:prstGeom>
          <a:ln w="9525">
            <a:solidFill>
              <a:srgbClr val="111827"/>
            </a:solidFill>
            <a:prstDash val="dash"/>
            <a:headEnd type="triangle" w="sm" len="sm"/>
          </a:ln>
        </p:spPr>
      </p:cxnSp>
      <p:cxnSp>
        <p:nvCxnSpPr>
          <p:cNvPr id="19" name="steps to reports"/>
          <p:cNvCxnSpPr/>
          <p:nvPr/>
        </p:nvCxnSpPr>
        <p:spPr>
          <a:xfrm>
            <a:off x="1143000" y="4248150"/>
            <a:ext cx="9525" cy="457200"/>
          </a:xfrm>
          <a:prstGeom prst="line">
            <a:avLst/>
          </a:prstGeom>
          <a:ln w="9525">
            <a:solidFill>
              <a:srgbClr val="111827"/>
            </a:solidFill>
            <a:prstDash val="dash"/>
            <a:headEnd type="triangle" w="sm" len="sm"/>
          </a:ln>
        </p:spPr>
      </p:cxnSp>
      <p:cxnSp>
        <p:nvCxnSpPr>
          <p:cNvPr id="20" name="steps to ui_request"/>
          <p:cNvCxnSpPr/>
          <p:nvPr/>
        </p:nvCxnSpPr>
        <p:spPr>
          <a:xfrm>
            <a:off x="1866900" y="3714750"/>
            <a:ext cx="514350" cy="9525"/>
          </a:xfrm>
          <a:prstGeom prst="line">
            <a:avLst/>
          </a:prstGeom>
          <a:ln w="19050">
            <a:solidFill>
              <a:srgbClr val="111827"/>
            </a:solidFill>
            <a:headEnd type="triangle" w="sm" len="sm"/>
          </a:ln>
        </p:spPr>
      </p:cxnSp>
      <p:sp>
        <p:nvSpPr>
          <p:cNvPr id="21" name="rest layer"/>
          <p:cNvSpPr/>
          <p:nvPr/>
        </p:nvSpPr>
        <p:spPr>
          <a:xfrm>
            <a:off x="4914900" y="1400175"/>
            <a:ext cx="3200400" cy="1390650"/>
          </a:xfrm>
          <a:prstGeom prst="roundRect">
            <a:avLst/>
          </a:prstGeom>
          <a:solidFill>
            <a:srgbClr val="F8FBFF"/>
          </a:solidFill>
          <a:ln w="9525">
            <a:solidFill>
              <a:srgbClr val="2B6FA3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400" b="1">
                <a:solidFill>
                  <a:srgbClr val="111827"/>
                </a:solidFill>
                <a:latin typeface="Aptos"/>
                <a:ea typeface="Microsoft YaHei"/>
              </a:rPr>
              <a:t>REST API Layer</a:t>
            </a:r>
            <a:endParaRPr lang="en-US" sz="1400"/>
          </a:p>
          <a:p>
            <a:pPr algn="ctr"/>
            <a:r>
              <a:rPr lang="en-US" sz="1400" b="1">
                <a:solidFill>
                  <a:srgbClr val="111827"/>
                </a:solidFill>
                <a:latin typeface="Aptos"/>
                <a:ea typeface="Microsoft YaHei"/>
              </a:rPr>
              <a:t>Exposed Endpoints (/ui/actions)</a:t>
            </a:r>
            <a:endParaRPr lang="en-US" sz="1400"/>
          </a:p>
        </p:txBody>
      </p:sp>
      <p:sp>
        <p:nvSpPr>
          <p:cNvPr id="22" name="endpoint POST /click"/>
          <p:cNvSpPr/>
          <p:nvPr/>
        </p:nvSpPr>
        <p:spPr>
          <a:xfrm>
            <a:off x="5095875" y="1943100"/>
            <a:ext cx="87630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POST /click</a:t>
            </a:r>
            <a:endParaRPr lang="en-US" sz="1100"/>
          </a:p>
        </p:txBody>
      </p:sp>
      <p:sp>
        <p:nvSpPr>
          <p:cNvPr id="23" name="endpoint POST /checkbox"/>
          <p:cNvSpPr/>
          <p:nvPr/>
        </p:nvSpPr>
        <p:spPr>
          <a:xfrm>
            <a:off x="6143625" y="1943100"/>
            <a:ext cx="87630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POST /checkbox</a:t>
            </a:r>
            <a:endParaRPr lang="en-US" sz="1100"/>
          </a:p>
        </p:txBody>
      </p:sp>
      <p:sp>
        <p:nvSpPr>
          <p:cNvPr id="24" name="endpoint POST /type"/>
          <p:cNvSpPr/>
          <p:nvPr/>
        </p:nvSpPr>
        <p:spPr>
          <a:xfrm>
            <a:off x="7191375" y="1943100"/>
            <a:ext cx="87630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POST /type</a:t>
            </a:r>
            <a:endParaRPr lang="en-US" sz="1100"/>
          </a:p>
        </p:txBody>
      </p:sp>
      <p:sp>
        <p:nvSpPr>
          <p:cNvPr id="25" name="endpoint POST /select"/>
          <p:cNvSpPr/>
          <p:nvPr/>
        </p:nvSpPr>
        <p:spPr>
          <a:xfrm>
            <a:off x="5095875" y="2343150"/>
            <a:ext cx="87630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POST /select</a:t>
            </a:r>
            <a:endParaRPr lang="en-US" sz="1100"/>
          </a:p>
        </p:txBody>
      </p:sp>
      <p:sp>
        <p:nvSpPr>
          <p:cNvPr id="26" name="endpoint POST /getText"/>
          <p:cNvSpPr/>
          <p:nvPr/>
        </p:nvSpPr>
        <p:spPr>
          <a:xfrm>
            <a:off x="6143625" y="2343150"/>
            <a:ext cx="87630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POST /getText</a:t>
            </a:r>
            <a:endParaRPr lang="en-US" sz="1100"/>
          </a:p>
        </p:txBody>
      </p:sp>
      <p:sp>
        <p:nvSpPr>
          <p:cNvPr id="27" name="endpoint ..."/>
          <p:cNvSpPr/>
          <p:nvPr/>
        </p:nvSpPr>
        <p:spPr>
          <a:xfrm>
            <a:off x="7191375" y="2343150"/>
            <a:ext cx="87630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...</a:t>
            </a:r>
            <a:endParaRPr lang="en-US" sz="1100"/>
          </a:p>
        </p:txBody>
      </p:sp>
      <p:sp>
        <p:nvSpPr>
          <p:cNvPr id="28" name="request processor"/>
          <p:cNvSpPr/>
          <p:nvPr/>
        </p:nvSpPr>
        <p:spPr>
          <a:xfrm>
            <a:off x="5743575" y="2905125"/>
            <a:ext cx="1571625" cy="952500"/>
          </a:xfrm>
          <a:prstGeom prst="roundRect">
            <a:avLst/>
          </a:prstGeom>
          <a:solidFill>
            <a:srgbClr val="F8FBFF"/>
          </a:solidFill>
          <a:ln w="9525">
            <a:solidFill>
              <a:srgbClr val="2B6FA3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Request Processor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validate request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map to UI action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handle errors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return response</a:t>
            </a:r>
            <a:endParaRPr lang="en-US" sz="1200"/>
          </a:p>
        </p:txBody>
      </p:sp>
      <p:sp>
        <p:nvSpPr>
          <p:cNvPr id="29" name="flaui adapter"/>
          <p:cNvSpPr/>
          <p:nvPr/>
        </p:nvSpPr>
        <p:spPr>
          <a:xfrm>
            <a:off x="5648325" y="4019550"/>
            <a:ext cx="1762125" cy="990600"/>
          </a:xfrm>
          <a:prstGeom prst="roundRect">
            <a:avLst/>
          </a:prstGeom>
          <a:solidFill>
            <a:srgbClr val="F8FBFF"/>
          </a:solidFill>
          <a:ln w="9525">
            <a:solidFill>
              <a:srgbClr val="2B6FA3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FlaUI Adapter Layer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(Abstraction)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element finding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action execution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wait &amp; sync</a:t>
            </a:r>
            <a:endParaRPr lang="en-US" sz="1200"/>
          </a:p>
        </p:txBody>
      </p:sp>
      <p:sp>
        <p:nvSpPr>
          <p:cNvPr id="30" name="flaui"/>
          <p:cNvSpPr/>
          <p:nvPr/>
        </p:nvSpPr>
        <p:spPr>
          <a:xfrm>
            <a:off x="5524500" y="5162550"/>
            <a:ext cx="2047875" cy="628650"/>
          </a:xfrm>
          <a:prstGeom prst="roundRect">
            <a:avLst/>
          </a:prstGeom>
          <a:solidFill>
            <a:srgbClr val="F1F8EE"/>
          </a:solidFill>
          <a:ln w="9525">
            <a:solidFill>
              <a:srgbClr val="6AA05C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FlaUI (.NET)</a:t>
            </a:r>
            <a:endParaRPr lang="en-US" sz="1300"/>
          </a:p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UI Automation Library</a:t>
            </a:r>
            <a:endParaRPr lang="en-US" sz="1300"/>
          </a:p>
          <a:p>
            <a:pPr algn="ctr"/>
            <a:r>
              <a:rPr lang="en-US" sz="1300" b="1">
                <a:solidFill>
                  <a:srgbClr val="111827"/>
                </a:solidFill>
                <a:latin typeface="Aptos"/>
                <a:ea typeface="Microsoft YaHei"/>
              </a:rPr>
              <a:t>(Windows UI Automation API)</a:t>
            </a:r>
            <a:endParaRPr lang="en-US" sz="1300"/>
          </a:p>
        </p:txBody>
      </p:sp>
      <p:cxnSp>
        <p:nvCxnSpPr>
          <p:cNvPr id="31" name="rest to processor"/>
          <p:cNvCxnSpPr/>
          <p:nvPr/>
        </p:nvCxnSpPr>
        <p:spPr>
          <a:xfrm>
            <a:off x="6524625" y="2790825"/>
            <a:ext cx="9525" cy="114300"/>
          </a:xfrm>
          <a:prstGeom prst="line">
            <a:avLst/>
          </a:prstGeom>
          <a:ln w="19050">
            <a:solidFill>
              <a:srgbClr val="111827"/>
            </a:solidFill>
            <a:headEnd type="triangle" w="sm" len="sm"/>
          </a:ln>
        </p:spPr>
      </p:cxnSp>
      <p:cxnSp>
        <p:nvCxnSpPr>
          <p:cNvPr id="32" name="processor to adapter"/>
          <p:cNvCxnSpPr/>
          <p:nvPr/>
        </p:nvCxnSpPr>
        <p:spPr>
          <a:xfrm>
            <a:off x="6524625" y="3857625"/>
            <a:ext cx="9525" cy="161925"/>
          </a:xfrm>
          <a:prstGeom prst="line">
            <a:avLst/>
          </a:prstGeom>
          <a:ln w="19050">
            <a:solidFill>
              <a:srgbClr val="111827"/>
            </a:solidFill>
            <a:headEnd type="triangle" w="sm" len="sm"/>
          </a:ln>
        </p:spPr>
      </p:cxnSp>
      <p:cxnSp>
        <p:nvCxnSpPr>
          <p:cNvPr id="33" name="adapter to flaui"/>
          <p:cNvCxnSpPr/>
          <p:nvPr/>
        </p:nvCxnSpPr>
        <p:spPr>
          <a:xfrm>
            <a:off x="6524625" y="5010150"/>
            <a:ext cx="9525" cy="152400"/>
          </a:xfrm>
          <a:prstGeom prst="line">
            <a:avLst/>
          </a:prstGeom>
          <a:ln w="19050">
            <a:solidFill>
              <a:srgbClr val="111827"/>
            </a:solidFill>
            <a:headEnd type="triangle" w="sm" len="sm"/>
          </a:ln>
        </p:spPr>
      </p:cxnSp>
      <p:sp>
        <p:nvSpPr>
          <p:cNvPr id="34" name="sut app frame"/>
          <p:cNvSpPr/>
          <p:nvPr/>
        </p:nvSpPr>
        <p:spPr>
          <a:xfrm>
            <a:off x="9563100" y="1543050"/>
            <a:ext cx="1771650" cy="1905000"/>
          </a:xfrm>
          <a:prstGeom prst="roundRect">
            <a:avLst/>
          </a:prstGeom>
          <a:solidFill>
            <a:srgbClr val="FFFEF7"/>
          </a:solidFill>
          <a:ln w="9525">
            <a:solidFill>
              <a:srgbClr val="AA8A18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300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300"/>
          </a:p>
        </p:txBody>
      </p:sp>
      <p:sp>
        <p:nvSpPr>
          <p:cNvPr id="35" name="window chrome"/>
          <p:cNvSpPr/>
          <p:nvPr/>
        </p:nvSpPr>
        <p:spPr>
          <a:xfrm>
            <a:off x="9734550" y="1743075"/>
            <a:ext cx="175260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36" name="window top"/>
          <p:cNvSpPr/>
          <p:nvPr/>
        </p:nvSpPr>
        <p:spPr>
          <a:xfrm>
            <a:off x="9734550" y="1743075"/>
            <a:ext cx="1752600" cy="238125"/>
          </a:xfrm>
          <a:prstGeom prst="rect">
            <a:avLst/>
          </a:prstGeom>
          <a:solidFill>
            <a:srgbClr val="E5E7EB"/>
          </a:solidFill>
          <a:ln w="9525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37" name="window controls"/>
          <p:cNvSpPr/>
          <p:nvPr/>
        </p:nvSpPr>
        <p:spPr>
          <a:xfrm>
            <a:off x="11001375" y="17907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300">
                <a:solidFill>
                  <a:srgbClr val="111827"/>
                </a:solidFill>
                <a:latin typeface="Aptos"/>
                <a:ea typeface="Microsoft YaHei"/>
              </a:rPr>
              <a:t>–  □  ×</a:t>
            </a:r>
            <a:endParaRPr lang="en-US" sz="1300"/>
          </a:p>
        </p:txBody>
      </p:sp>
      <p:sp>
        <p:nvSpPr>
          <p:cNvPr id="38" name="input 1"/>
          <p:cNvSpPr/>
          <p:nvPr/>
        </p:nvSpPr>
        <p:spPr>
          <a:xfrm>
            <a:off x="9906000" y="2143125"/>
            <a:ext cx="14287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9" name="input 2"/>
          <p:cNvSpPr/>
          <p:nvPr/>
        </p:nvSpPr>
        <p:spPr>
          <a:xfrm>
            <a:off x="9906000" y="2495550"/>
            <a:ext cx="14287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0" name="button"/>
          <p:cNvSpPr/>
          <p:nvPr/>
        </p:nvSpPr>
        <p:spPr>
          <a:xfrm>
            <a:off x="10810875" y="2847975"/>
            <a:ext cx="523875" cy="152400"/>
          </a:xfrm>
          <a:prstGeom prst="roundRect">
            <a:avLst/>
          </a:prstGeom>
          <a:solidFill>
            <a:srgbClr val="E5E7EB"/>
          </a:solidFill>
          <a:ln w="9525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1" name="aut label"/>
          <p:cNvSpPr/>
          <p:nvPr/>
        </p:nvSpPr>
        <p:spPr>
          <a:xfrm>
            <a:off x="9715500" y="3209925"/>
            <a:ext cx="16192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400" b="1">
                <a:solidFill>
                  <a:srgbClr val="111827"/>
                </a:solidFill>
                <a:latin typeface="Aptos"/>
                <a:ea typeface="Microsoft YaHei"/>
              </a:rPr>
              <a:t>Windows Application</a:t>
            </a:r>
            <a:endParaRPr lang="en-US" sz="1400"/>
          </a:p>
          <a:p>
            <a:pPr algn="ctr"/>
            <a:r>
              <a:rPr lang="en-US" sz="1400" b="1">
                <a:solidFill>
                  <a:srgbClr val="111827"/>
                </a:solidFill>
                <a:latin typeface="Aptos"/>
                <a:ea typeface="Microsoft YaHei"/>
              </a:rPr>
              <a:t>(AUT)</a:t>
            </a:r>
            <a:endParaRPr lang="en-US" sz="1400"/>
          </a:p>
        </p:txBody>
      </p:sp>
      <p:sp>
        <p:nvSpPr>
          <p:cNvPr id="42" name="example actions"/>
          <p:cNvSpPr/>
          <p:nvPr/>
        </p:nvSpPr>
        <p:spPr>
          <a:xfrm>
            <a:off x="9505950" y="4171950"/>
            <a:ext cx="2190750" cy="1200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Example Actions (via /ui/actions)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click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checkbox (check/uncheck)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type (sendKeys)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select (dropdown)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getText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exists / isEnabled / isVisible</a:t>
            </a:r>
            <a:endParaRPr lang="en-US" sz="1100"/>
          </a:p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  <a:ea typeface="Microsoft YaHei"/>
              </a:rPr>
              <a:t>• waitFor</a:t>
            </a:r>
            <a:endParaRPr lang="en-US" sz="1100"/>
          </a:p>
        </p:txBody>
      </p:sp>
      <p:sp>
        <p:nvSpPr>
          <p:cNvPr id="43" name="allure report"/>
          <p:cNvSpPr/>
          <p:nvPr/>
        </p:nvSpPr>
        <p:spPr>
          <a:xfrm>
            <a:off x="9429750" y="6000750"/>
            <a:ext cx="2266950" cy="762000"/>
          </a:xfrm>
          <a:prstGeom prst="roundRect">
            <a:avLst/>
          </a:prstGeom>
          <a:solidFill>
            <a:srgbClr val="FAF5FF"/>
          </a:solidFill>
          <a:ln w="9525">
            <a:solidFill>
              <a:srgbClr val="8B5FBF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Test Results &amp; Reporting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Allure Report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 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test cases passed/failed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steps with screenshots</a:t>
            </a:r>
            <a:endParaRPr lang="en-US" sz="1200"/>
          </a:p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  <a:ea typeface="Microsoft YaHei"/>
              </a:rPr>
              <a:t>• attachments &amp; logs</a:t>
            </a:r>
            <a:endParaRPr lang="en-US" sz="1200"/>
          </a:p>
        </p:txBody>
      </p:sp>
      <p:cxnSp>
        <p:nvCxnSpPr>
          <p:cNvPr id="44" name="http requests"/>
          <p:cNvCxnSpPr/>
          <p:nvPr/>
        </p:nvCxnSpPr>
        <p:spPr>
          <a:xfrm>
            <a:off x="3524250" y="3409950"/>
            <a:ext cx="1238250" cy="9525"/>
          </a:xfrm>
          <a:prstGeom prst="line">
            <a:avLst/>
          </a:prstGeom>
          <a:ln w="19050">
            <a:solidFill>
              <a:srgbClr val="111827"/>
            </a:solidFill>
            <a:headEnd type="triangle" w="sm" len="sm"/>
          </a:ln>
        </p:spPr>
      </p:cxnSp>
      <p:sp>
        <p:nvSpPr>
          <p:cNvPr id="45" name="request label"/>
          <p:cNvSpPr/>
          <p:nvPr/>
        </p:nvSpPr>
        <p:spPr>
          <a:xfrm>
            <a:off x="3876675" y="3076575"/>
            <a:ext cx="781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HTTP/JSON</a:t>
            </a:r>
            <a:endParaRPr lang="en-US" sz="1100"/>
          </a:p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Requests</a:t>
            </a:r>
            <a:endParaRPr lang="en-US" sz="1100"/>
          </a:p>
        </p:txBody>
      </p:sp>
      <p:cxnSp>
        <p:nvCxnSpPr>
          <p:cNvPr id="46" name="http responses"/>
          <p:cNvCxnSpPr/>
          <p:nvPr/>
        </p:nvCxnSpPr>
        <p:spPr>
          <a:xfrm flipH="1">
            <a:off x="3714750" y="4591050"/>
            <a:ext cx="1047750" cy="9525"/>
          </a:xfrm>
          <a:prstGeom prst="line">
            <a:avLst/>
          </a:prstGeom>
          <a:ln w="19050">
            <a:solidFill>
              <a:srgbClr val="475569"/>
            </a:solidFill>
            <a:prstDash val="dash"/>
            <a:headEnd type="triangle" w="sm" len="sm"/>
          </a:ln>
        </p:spPr>
      </p:cxnSp>
      <p:sp>
        <p:nvSpPr>
          <p:cNvPr id="47" name="response label"/>
          <p:cNvSpPr/>
          <p:nvPr/>
        </p:nvSpPr>
        <p:spPr>
          <a:xfrm>
            <a:off x="3876675" y="4324350"/>
            <a:ext cx="781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334155"/>
                </a:solidFill>
                <a:latin typeface="Aptos"/>
                <a:ea typeface="Microsoft YaHei"/>
              </a:rPr>
              <a:t>HTTP/JSON</a:t>
            </a:r>
            <a:endParaRPr lang="en-US" sz="1100"/>
          </a:p>
          <a:p>
            <a:pPr algn="ctr"/>
            <a:r>
              <a:rPr lang="en-US" sz="1100">
                <a:solidFill>
                  <a:srgbClr val="334155"/>
                </a:solidFill>
                <a:latin typeface="Aptos"/>
                <a:ea typeface="Microsoft YaHei"/>
              </a:rPr>
              <a:t>Responses</a:t>
            </a:r>
            <a:endParaRPr lang="en-US" sz="1100"/>
          </a:p>
        </p:txBody>
      </p:sp>
      <p:cxnSp>
        <p:nvCxnSpPr>
          <p:cNvPr id="48" name="ui automation"/>
          <p:cNvCxnSpPr/>
          <p:nvPr/>
        </p:nvCxnSpPr>
        <p:spPr>
          <a:xfrm>
            <a:off x="8286750" y="3371850"/>
            <a:ext cx="1009650" cy="9525"/>
          </a:xfrm>
          <a:prstGeom prst="line">
            <a:avLst/>
          </a:prstGeom>
          <a:ln w="19050">
            <a:solidFill>
              <a:srgbClr val="111827"/>
            </a:solidFill>
            <a:headEnd type="triangle" w="sm" len="sm"/>
          </a:ln>
        </p:spPr>
      </p:cxnSp>
      <p:sp>
        <p:nvSpPr>
          <p:cNvPr id="49" name="ui automation label"/>
          <p:cNvSpPr/>
          <p:nvPr/>
        </p:nvSpPr>
        <p:spPr>
          <a:xfrm>
            <a:off x="8458200" y="3067050"/>
            <a:ext cx="762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UI Automation</a:t>
            </a:r>
            <a:endParaRPr lang="en-US" sz="1100"/>
          </a:p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icrosoft YaHei"/>
              </a:rPr>
              <a:t>(FlaUI)</a:t>
            </a:r>
            <a:endParaRPr lang="en-US" sz="1100"/>
          </a:p>
        </p:txBody>
      </p:sp>
      <p:sp>
        <p:nvSpPr>
          <p:cNvPr id="50" name="flow panel"/>
          <p:cNvSpPr/>
          <p:nvPr/>
        </p:nvSpPr>
        <p:spPr>
          <a:xfrm>
            <a:off x="1657350" y="5981700"/>
            <a:ext cx="7286625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EB7C2"/>
            </a:solidFill>
          </a:ln>
        </p:spPr>
        <p:txBody>
          <a:bodyPr/>
          <a:lstStyle/>
          <a:p/>
        </p:txBody>
      </p:sp>
      <p:sp>
        <p:nvSpPr>
          <p:cNvPr id="51" name="flow title"/>
          <p:cNvSpPr/>
          <p:nvPr/>
        </p:nvSpPr>
        <p:spPr>
          <a:xfrm>
            <a:off x="4429125" y="601980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500" b="1">
                <a:solidFill>
                  <a:srgbClr val="1E3A8A"/>
                </a:solidFill>
                <a:latin typeface="Aptos"/>
                <a:ea typeface="Microsoft YaHei"/>
              </a:rPr>
              <a:t>End-to-End Test Flow</a:t>
            </a:r>
            <a:endParaRPr lang="en-US" sz="1500"/>
          </a:p>
        </p:txBody>
      </p:sp>
      <p:sp>
        <p:nvSpPr>
          <p:cNvPr id="52" name="flow icon 1"/>
          <p:cNvSpPr/>
          <p:nvPr/>
        </p:nvSpPr>
        <p:spPr>
          <a:xfrm>
            <a:off x="1762125" y="6229350"/>
            <a:ext cx="361950" cy="266700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Microsoft YaHei"/>
              </a:rPr>
              <a:t>1</a:t>
            </a:r>
            <a:endParaRPr lang="en-US" sz="1600"/>
          </a:p>
        </p:txBody>
      </p:sp>
      <p:sp>
        <p:nvSpPr>
          <p:cNvPr id="53" name="flow label 1"/>
          <p:cNvSpPr/>
          <p:nvPr/>
        </p:nvSpPr>
        <p:spPr>
          <a:xfrm>
            <a:off x="1514475" y="65151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Write feature</a:t>
            </a:r>
            <a:endParaRPr lang="en-US" sz="900"/>
          </a:p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(Gherkin)</a:t>
            </a:r>
            <a:endParaRPr lang="en-US" sz="900"/>
          </a:p>
        </p:txBody>
      </p:sp>
      <p:sp>
        <p:nvSpPr>
          <p:cNvPr id="54" name="flow icon 2"/>
          <p:cNvSpPr/>
          <p:nvPr/>
        </p:nvSpPr>
        <p:spPr>
          <a:xfrm>
            <a:off x="2714625" y="6229350"/>
            <a:ext cx="361950" cy="266700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Microsoft YaHei"/>
              </a:rPr>
              <a:t>2</a:t>
            </a:r>
            <a:endParaRPr lang="en-US" sz="1600"/>
          </a:p>
        </p:txBody>
      </p:sp>
      <p:sp>
        <p:nvSpPr>
          <p:cNvPr id="55" name="flow label 2"/>
          <p:cNvSpPr/>
          <p:nvPr/>
        </p:nvSpPr>
        <p:spPr>
          <a:xfrm>
            <a:off x="2466975" y="65151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Implement steps</a:t>
            </a:r>
            <a:endParaRPr lang="en-US" sz="900"/>
          </a:p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(JavaScript)</a:t>
            </a:r>
            <a:endParaRPr lang="en-US" sz="900"/>
          </a:p>
        </p:txBody>
      </p:sp>
      <p:cxnSp>
        <p:nvCxnSpPr>
          <p:cNvPr id="56" name="flow arrow 1"/>
          <p:cNvCxnSpPr/>
          <p:nvPr/>
        </p:nvCxnSpPr>
        <p:spPr>
          <a:xfrm>
            <a:off x="2181225" y="6362700"/>
            <a:ext cx="476250" cy="9525"/>
          </a:xfrm>
          <a:prstGeom prst="line">
            <a:avLst/>
          </a:prstGeom>
          <a:ln w="9525">
            <a:solidFill>
              <a:srgbClr val="111827"/>
            </a:solidFill>
            <a:headEnd type="triangle" w="sm" len="sm"/>
          </a:ln>
        </p:spPr>
      </p:cxnSp>
      <p:sp>
        <p:nvSpPr>
          <p:cNvPr id="57" name="flow icon 3"/>
          <p:cNvSpPr/>
          <p:nvPr/>
        </p:nvSpPr>
        <p:spPr>
          <a:xfrm>
            <a:off x="3667125" y="6229350"/>
            <a:ext cx="361950" cy="266700"/>
          </a:xfrm>
          <a:prstGeom prst="roundRect">
            <a:avLst/>
          </a:prstGeom>
          <a:solidFill>
            <a:srgbClr val="8B5CF6"/>
          </a:solidFill>
          <a:ln w="9525">
            <a:solidFill>
              <a:srgbClr val="8B5CF6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Microsoft YaHei"/>
              </a:rPr>
              <a:t>3</a:t>
            </a:r>
            <a:endParaRPr lang="en-US" sz="1600"/>
          </a:p>
        </p:txBody>
      </p:sp>
      <p:sp>
        <p:nvSpPr>
          <p:cNvPr id="58" name="flow label 3"/>
          <p:cNvSpPr/>
          <p:nvPr/>
        </p:nvSpPr>
        <p:spPr>
          <a:xfrm>
            <a:off x="3419475" y="65151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Call backend via</a:t>
            </a:r>
            <a:endParaRPr lang="en-US" sz="900"/>
          </a:p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ui_request.js</a:t>
            </a:r>
            <a:endParaRPr lang="en-US" sz="900"/>
          </a:p>
        </p:txBody>
      </p:sp>
      <p:cxnSp>
        <p:nvCxnSpPr>
          <p:cNvPr id="59" name="flow arrow 2"/>
          <p:cNvCxnSpPr/>
          <p:nvPr/>
        </p:nvCxnSpPr>
        <p:spPr>
          <a:xfrm>
            <a:off x="3133725" y="6362700"/>
            <a:ext cx="476250" cy="9525"/>
          </a:xfrm>
          <a:prstGeom prst="line">
            <a:avLst/>
          </a:prstGeom>
          <a:ln w="9525">
            <a:solidFill>
              <a:srgbClr val="111827"/>
            </a:solidFill>
            <a:headEnd type="triangle" w="sm" len="sm"/>
          </a:ln>
        </p:spPr>
      </p:cxnSp>
      <p:sp>
        <p:nvSpPr>
          <p:cNvPr id="60" name="flow icon 4"/>
          <p:cNvSpPr/>
          <p:nvPr/>
        </p:nvSpPr>
        <p:spPr>
          <a:xfrm>
            <a:off x="4619625" y="6229350"/>
            <a:ext cx="361950" cy="266700"/>
          </a:xfrm>
          <a:prstGeom prst="roundRect">
            <a:avLst/>
          </a:prstGeom>
          <a:solidFill>
            <a:srgbClr val="60A5FA"/>
          </a:solidFill>
          <a:ln w="9525">
            <a:solidFill>
              <a:srgbClr val="60A5FA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Microsoft YaHei"/>
              </a:rPr>
              <a:t>4</a:t>
            </a:r>
            <a:endParaRPr lang="en-US" sz="1600"/>
          </a:p>
        </p:txBody>
      </p:sp>
      <p:sp>
        <p:nvSpPr>
          <p:cNvPr id="61" name="flow label 4"/>
          <p:cNvSpPr/>
          <p:nvPr/>
        </p:nvSpPr>
        <p:spPr>
          <a:xfrm>
            <a:off x="4371975" y="65151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Backend API</a:t>
            </a:r>
            <a:endParaRPr lang="en-US" sz="900"/>
          </a:p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processes request</a:t>
            </a:r>
            <a:endParaRPr lang="en-US" sz="900"/>
          </a:p>
        </p:txBody>
      </p:sp>
      <p:cxnSp>
        <p:nvCxnSpPr>
          <p:cNvPr id="62" name="flow arrow 3"/>
          <p:cNvCxnSpPr/>
          <p:nvPr/>
        </p:nvCxnSpPr>
        <p:spPr>
          <a:xfrm>
            <a:off x="4086225" y="6362700"/>
            <a:ext cx="476250" cy="9525"/>
          </a:xfrm>
          <a:prstGeom prst="line">
            <a:avLst/>
          </a:prstGeom>
          <a:ln w="9525">
            <a:solidFill>
              <a:srgbClr val="111827"/>
            </a:solidFill>
            <a:headEnd type="triangle" w="sm" len="sm"/>
          </a:ln>
        </p:spPr>
      </p:cxnSp>
      <p:sp>
        <p:nvSpPr>
          <p:cNvPr id="63" name="flow icon 5"/>
          <p:cNvSpPr/>
          <p:nvPr/>
        </p:nvSpPr>
        <p:spPr>
          <a:xfrm>
            <a:off x="5572125" y="6229350"/>
            <a:ext cx="361950" cy="266700"/>
          </a:xfrm>
          <a:prstGeom prst="roundRect">
            <a:avLst/>
          </a:prstGeom>
          <a:solidFill>
            <a:srgbClr val="64748B"/>
          </a:solidFill>
          <a:ln w="9525">
            <a:solidFill>
              <a:srgbClr val="64748B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Microsoft YaHei"/>
              </a:rPr>
              <a:t>5</a:t>
            </a:r>
            <a:endParaRPr lang="en-US" sz="1600"/>
          </a:p>
        </p:txBody>
      </p:sp>
      <p:sp>
        <p:nvSpPr>
          <p:cNvPr id="64" name="flow label 5"/>
          <p:cNvSpPr/>
          <p:nvPr/>
        </p:nvSpPr>
        <p:spPr>
          <a:xfrm>
            <a:off x="5324475" y="65151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FlaUI executes</a:t>
            </a:r>
            <a:endParaRPr lang="en-US" sz="900"/>
          </a:p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action</a:t>
            </a:r>
            <a:endParaRPr lang="en-US" sz="900"/>
          </a:p>
        </p:txBody>
      </p:sp>
      <p:cxnSp>
        <p:nvCxnSpPr>
          <p:cNvPr id="65" name="flow arrow 4"/>
          <p:cNvCxnSpPr/>
          <p:nvPr/>
        </p:nvCxnSpPr>
        <p:spPr>
          <a:xfrm>
            <a:off x="5038725" y="6362700"/>
            <a:ext cx="476250" cy="9525"/>
          </a:xfrm>
          <a:prstGeom prst="line">
            <a:avLst/>
          </a:prstGeom>
          <a:ln w="9525">
            <a:solidFill>
              <a:srgbClr val="111827"/>
            </a:solidFill>
            <a:headEnd type="triangle" w="sm" len="sm"/>
          </a:ln>
        </p:spPr>
      </p:cxnSp>
      <p:sp>
        <p:nvSpPr>
          <p:cNvPr id="66" name="flow icon 6"/>
          <p:cNvSpPr/>
          <p:nvPr/>
        </p:nvSpPr>
        <p:spPr>
          <a:xfrm>
            <a:off x="6524625" y="6229350"/>
            <a:ext cx="361950" cy="266700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Microsoft YaHei"/>
              </a:rPr>
              <a:t>6</a:t>
            </a:r>
            <a:endParaRPr lang="en-US" sz="1600"/>
          </a:p>
        </p:txBody>
      </p:sp>
      <p:sp>
        <p:nvSpPr>
          <p:cNvPr id="67" name="flow label 6"/>
          <p:cNvSpPr/>
          <p:nvPr/>
        </p:nvSpPr>
        <p:spPr>
          <a:xfrm>
            <a:off x="6276975" y="65151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Response returned</a:t>
            </a:r>
            <a:endParaRPr lang="en-US" sz="900"/>
          </a:p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to front-end</a:t>
            </a:r>
            <a:endParaRPr lang="en-US" sz="900"/>
          </a:p>
        </p:txBody>
      </p:sp>
      <p:cxnSp>
        <p:nvCxnSpPr>
          <p:cNvPr id="68" name="flow arrow 5"/>
          <p:cNvCxnSpPr/>
          <p:nvPr/>
        </p:nvCxnSpPr>
        <p:spPr>
          <a:xfrm>
            <a:off x="5991225" y="6362700"/>
            <a:ext cx="476250" cy="9525"/>
          </a:xfrm>
          <a:prstGeom prst="line">
            <a:avLst/>
          </a:prstGeom>
          <a:ln w="9525">
            <a:solidFill>
              <a:srgbClr val="111827"/>
            </a:solidFill>
            <a:headEnd type="triangle" w="sm" len="sm"/>
          </a:ln>
        </p:spPr>
      </p:cxnSp>
      <p:sp>
        <p:nvSpPr>
          <p:cNvPr id="69" name="flow icon 7"/>
          <p:cNvSpPr/>
          <p:nvPr/>
        </p:nvSpPr>
        <p:spPr>
          <a:xfrm>
            <a:off x="7477125" y="6229350"/>
            <a:ext cx="361950" cy="266700"/>
          </a:xfrm>
          <a:prstGeom prst="roundRect">
            <a:avLst/>
          </a:prstGeom>
          <a:solidFill>
            <a:srgbClr val="10B981"/>
          </a:solidFill>
          <a:ln w="9525">
            <a:solidFill>
              <a:srgbClr val="10B981"/>
            </a:solidFill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Microsoft YaHei"/>
              </a:rPr>
              <a:t>7</a:t>
            </a:r>
            <a:endParaRPr lang="en-US" sz="1600"/>
          </a:p>
        </p:txBody>
      </p:sp>
      <p:sp>
        <p:nvSpPr>
          <p:cNvPr id="70" name="flow label 7"/>
          <p:cNvSpPr/>
          <p:nvPr/>
        </p:nvSpPr>
        <p:spPr>
          <a:xfrm>
            <a:off x="7229475" y="65151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Test result</a:t>
            </a:r>
            <a:endParaRPr lang="en-US" sz="900"/>
          </a:p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recorded</a:t>
            </a:r>
            <a:endParaRPr lang="en-US" sz="900"/>
          </a:p>
        </p:txBody>
      </p:sp>
      <p:cxnSp>
        <p:nvCxnSpPr>
          <p:cNvPr id="71" name="flow arrow 6"/>
          <p:cNvCxnSpPr/>
          <p:nvPr/>
        </p:nvCxnSpPr>
        <p:spPr>
          <a:xfrm>
            <a:off x="6943725" y="6362700"/>
            <a:ext cx="476250" cy="9525"/>
          </a:xfrm>
          <a:prstGeom prst="line">
            <a:avLst/>
          </a:prstGeom>
          <a:ln w="9525">
            <a:solidFill>
              <a:srgbClr val="111827"/>
            </a:solidFill>
            <a:headEnd type="triangle" w="sm" len="sm"/>
          </a:ln>
        </p:spPr>
      </p:cxnSp>
      <p:cxnSp>
        <p:nvCxnSpPr>
          <p:cNvPr id="72" name="report to flow"/>
          <p:cNvCxnSpPr/>
          <p:nvPr/>
        </p:nvCxnSpPr>
        <p:spPr>
          <a:xfrm>
            <a:off x="1143000" y="5314950"/>
            <a:ext cx="514350" cy="971550"/>
          </a:xfrm>
          <a:prstGeom prst="line">
            <a:avLst/>
          </a:prstGeom>
          <a:ln w="9525">
            <a:solidFill>
              <a:srgbClr val="111827"/>
            </a:solidFill>
            <a:prstDash val="dash"/>
            <a:headEnd type="triangle" w="sm" len="sm"/>
          </a:ln>
        </p:spPr>
      </p:cxnSp>
      <p:cxnSp>
        <p:nvCxnSpPr>
          <p:cNvPr id="73" name="flow to allure"/>
          <p:cNvCxnSpPr/>
          <p:nvPr/>
        </p:nvCxnSpPr>
        <p:spPr>
          <a:xfrm>
            <a:off x="8943975" y="6362700"/>
            <a:ext cx="485775" cy="9525"/>
          </a:xfrm>
          <a:prstGeom prst="line">
            <a:avLst/>
          </a:prstGeom>
          <a:ln w="9525">
            <a:solidFill>
              <a:srgbClr val="111827"/>
            </a:solidFill>
            <a:prstDash val="dash"/>
            <a:headEnd type="triangle" w="sm" len="sm"/>
          </a:ln>
        </p:spPr>
      </p:cxnSp>
      <p:sp>
        <p:nvSpPr>
          <p:cNvPr id="74" name="legend"/>
          <p:cNvSpPr/>
          <p:nvPr/>
        </p:nvSpPr>
        <p:spPr>
          <a:xfrm>
            <a:off x="266700" y="6419850"/>
            <a:ext cx="1428750" cy="361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cxnSp>
        <p:nvCxnSpPr>
          <p:cNvPr id="75" name="legend request"/>
          <p:cNvCxnSpPr/>
          <p:nvPr/>
        </p:nvCxnSpPr>
        <p:spPr>
          <a:xfrm>
            <a:off x="419100" y="6572250"/>
            <a:ext cx="200025" cy="9525"/>
          </a:xfrm>
          <a:prstGeom prst="line">
            <a:avLst/>
          </a:prstGeom>
          <a:ln w="19050">
            <a:solidFill>
              <a:srgbClr val="111827"/>
            </a:solidFill>
            <a:headEnd type="triangle" w="sm" len="sm"/>
          </a:ln>
        </p:spPr>
      </p:cxnSp>
      <p:sp>
        <p:nvSpPr>
          <p:cNvPr id="76" name="legend request text"/>
          <p:cNvSpPr/>
          <p:nvPr/>
        </p:nvSpPr>
        <p:spPr>
          <a:xfrm>
            <a:off x="666750" y="648652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Flow</a:t>
            </a:r>
            <a:endParaRPr lang="en-US" sz="900"/>
          </a:p>
        </p:txBody>
      </p:sp>
      <p:cxnSp>
        <p:nvCxnSpPr>
          <p:cNvPr id="77" name="legend response"/>
          <p:cNvCxnSpPr/>
          <p:nvPr/>
        </p:nvCxnSpPr>
        <p:spPr>
          <a:xfrm>
            <a:off x="1076325" y="6572250"/>
            <a:ext cx="200025" cy="9525"/>
          </a:xfrm>
          <a:prstGeom prst="line">
            <a:avLst/>
          </a:prstGeom>
          <a:ln w="19050">
            <a:solidFill>
              <a:srgbClr val="111827"/>
            </a:solidFill>
            <a:prstDash val="dash"/>
            <a:headEnd type="triangle" w="sm" len="sm"/>
          </a:ln>
        </p:spPr>
      </p:cxnSp>
      <p:sp>
        <p:nvSpPr>
          <p:cNvPr id="78" name="legend response text"/>
          <p:cNvSpPr/>
          <p:nvPr/>
        </p:nvSpPr>
        <p:spPr>
          <a:xfrm>
            <a:off x="1314450" y="6486525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57150" rIns="57150" tIns="38100" bIns="38100"/>
          <a:lstStyle/>
          <a:p>
            <a:pPr algn="ctr"/>
            <a:r>
              <a:rPr lang="en-US" sz="900">
                <a:solidFill>
                  <a:srgbClr val="111827"/>
                </a:solidFill>
                <a:latin typeface="Aptos"/>
                <a:ea typeface="Microsoft YaHei"/>
              </a:rPr>
              <a:t>Response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CA8A04"/>
      </a:accent3>
      <a:accent4>
        <a:srgbClr val="9333EA"/>
      </a:accent4>
      <a:accent5>
        <a:srgbClr val="0891B2"/>
      </a:accent5>
      <a:accent6>
        <a:srgbClr val="DC2626"/>
      </a:accent6>
      <a:hlink>
        <a:srgbClr val="2563EB"/>
      </a:hlink>
      <a:folHlink>
        <a:srgbClr val="7C3AED"/>
      </a:folHlink>
    </a:clrScheme>
    <a:fontScheme name="Aptos">
      <a:majorFont>
        <a:latin typeface="Aptos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UI Test Automation Architecture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Test Automation Architecture</dc:title>
  <dc:creator>Codex</dc:creator>
  <cp:lastModifiedBy>Codex</cp:lastModifiedBy>
  <dcterms:created xsi:type="dcterms:W3CDTF">2026-06-25T00:00:00Z</dcterms:created>
  <dcterms:modified xsi:type="dcterms:W3CDTF">2026-06-25T00:00:00Z</dcterms:modified>
</cp:coreProperties>
</file>